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ru-RU" sz="1400" b="0" i="0" u="none" strike="noStrike">
                <a:solidFill>
                  <a:srgbClr val="0D1B2A"/>
                </a:solidFill>
                <a:latin typeface="Arial"/>
              </a:rPr>
              <a:t>Среднее число итераций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Практика (итераций)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Вставка</c:v>
                </c:pt>
                <c:pt idx="1">
                  <c:v>Поиск</c:v>
                </c:pt>
                <c:pt idx="2">
                  <c:v>Удаление*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15.3</c:v>
                </c:pt>
                <c:pt idx="1">
                  <c:v>13.7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58-A247-8E1E-AC4FBB89EA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Теория log₂(10000)</c:v>
                </c:pt>
              </c:strCache>
            </c:strRef>
          </c:tx>
          <c:spPr>
            <a:solidFill>
              <a:srgbClr val="2176A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Вставка</c:v>
                </c:pt>
                <c:pt idx="1">
                  <c:v>Поиск</c:v>
                </c:pt>
                <c:pt idx="2">
                  <c:v>Удаление*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13.3</c:v>
                </c:pt>
                <c:pt idx="1">
                  <c:v>13.3</c:v>
                </c:pt>
                <c:pt idx="2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58-A247-8E1E-AC4FBB89EA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ru-RU" sz="1400" b="0" i="0" u="none" strike="noStrike">
                <a:solidFill>
                  <a:srgbClr val="0D1B2A"/>
                </a:solidFill>
                <a:latin typeface="Arial"/>
              </a:rPr>
              <a:t>Рост итераций при вставке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Теория O(log n)</c:v>
                </c:pt>
              </c:strCache>
            </c:strRef>
          </c:tx>
          <c:spPr>
            <a:ln w="25400" cap="flat">
              <a:solidFill>
                <a:srgbClr val="2176A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76AE"/>
              </a:solidFill>
              <a:ln w="9525" cap="flat">
                <a:solidFill>
                  <a:srgbClr val="2176A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11</c:v>
                </c:pt>
                <c:pt idx="2">
                  <c:v>11.6</c:v>
                </c:pt>
                <c:pt idx="3">
                  <c:v>12</c:v>
                </c:pt>
                <c:pt idx="4">
                  <c:v>12.3</c:v>
                </c:pt>
                <c:pt idx="5">
                  <c:v>12.6</c:v>
                </c:pt>
                <c:pt idx="6">
                  <c:v>12.8</c:v>
                </c:pt>
                <c:pt idx="7">
                  <c:v>13</c:v>
                </c:pt>
                <c:pt idx="8">
                  <c:v>13.1</c:v>
                </c:pt>
                <c:pt idx="9">
                  <c:v>13.3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ECC-1E44-96B1-4485510618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Практика (вставка)</c:v>
                </c:pt>
              </c:strCache>
            </c:strRef>
          </c:tx>
          <c:spPr>
            <a:ln w="25400" cap="flat">
              <a:solidFill>
                <a:srgbClr val="C1121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1121F"/>
              </a:solidFill>
              <a:ln w="9525" cap="flat">
                <a:solidFill>
                  <a:srgbClr val="C1121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  <c:pt idx="6">
                  <c:v>7000</c:v>
                </c:pt>
                <c:pt idx="7">
                  <c:v>8000</c:v>
                </c:pt>
                <c:pt idx="8">
                  <c:v>9000</c:v>
                </c:pt>
                <c:pt idx="9">
                  <c:v>10000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11.5</c:v>
                </c:pt>
                <c:pt idx="1">
                  <c:v>12.6</c:v>
                </c:pt>
                <c:pt idx="2">
                  <c:v>13.3</c:v>
                </c:pt>
                <c:pt idx="3">
                  <c:v>13.8</c:v>
                </c:pt>
                <c:pt idx="4">
                  <c:v>14.1</c:v>
                </c:pt>
                <c:pt idx="5">
                  <c:v>14.4</c:v>
                </c:pt>
                <c:pt idx="6">
                  <c:v>14.7</c:v>
                </c:pt>
                <c:pt idx="7">
                  <c:v>14.9</c:v>
                </c:pt>
                <c:pt idx="8">
                  <c:v>15.1</c:v>
                </c:pt>
                <c:pt idx="9">
                  <c:v>15.3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ECC-1E44-96B1-4485510618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21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lin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560320" cy="2560320"/>
          </a:xfrm>
          <a:prstGeom prst="line">
            <a:avLst/>
          </a:prstGeom>
          <a:solidFill>
            <a:srgbClr val="C1121F">
              <a:alpha val="30000"/>
            </a:srgbClr>
          </a:solidFill>
          <a:ln w="12700">
            <a:solidFill>
              <a:srgbClr val="C1121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400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Красно-чёрное дерево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2018855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0B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Red-Black Tree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31520" y="2514600"/>
            <a:ext cx="4114800" cy="36576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Семестровая работа № 3  ·  Вариант 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Алгоритмы и структуры данных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520440"/>
            <a:ext cx="53035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2D4A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611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6
</a:t>
            </a:r>
            <a:r>
              <a:rPr lang="en-US" sz="12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Тодышев Владислав  ·  Саитов Карим  ·  Пипуныров Марат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Историческая справка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1143000"/>
            <a:ext cx="45720" cy="34747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" y="1188720"/>
            <a:ext cx="457200" cy="457200"/>
          </a:xfrm>
          <a:prstGeom prst="lin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1972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143000"/>
            <a:ext cx="7132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197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Рудольф Байер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1527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«Симметричные B-деревья» — первое описание структуры как частного случая B-дерева порядка 2. Опубликовано в Acta Informatica.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8408" y="2331720"/>
            <a:ext cx="457200" cy="457200"/>
          </a:xfrm>
          <a:prstGeom prst="lin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00200" y="2286000"/>
            <a:ext cx="7132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340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Гибас и Седжвик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2670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 Dichromatic Framework for Balanced Trees» (FOCS 1978). Введены цветовая раскраска и термин «красно-чёрное дерево».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" y="3474720"/>
            <a:ext cx="457200" cy="457200"/>
          </a:xfrm>
          <a:prstGeom prst="line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1980+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00200" y="3429000"/>
            <a:ext cx="7132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3483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7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Промышленное применение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37360" y="3813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CFS, C++ STL (std::map, std::set), Java (TreeMap, TreeSet), СУБД и операционные системы.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FFE8E8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RBT — одна из наиболее распространённых структур данных в системном ПО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инвариантов красно-чёрного дерева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хотя бы одного → дерево перестаёт быть RBT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161288"/>
            <a:ext cx="594360" cy="594360"/>
          </a:xfrm>
          <a:prstGeom prst="lin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61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8992" y="1161288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узел окрашен в красный или чёрный цвет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82112" y="105156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161288"/>
            <a:ext cx="594360" cy="594360"/>
          </a:xfrm>
          <a:prstGeom prst="lin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161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05072" y="1161288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дерева всегда чёрный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08192" y="105156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161288"/>
            <a:ext cx="594360" cy="594360"/>
          </a:xfrm>
          <a:prstGeom prst="lin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161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31152" y="1161288"/>
            <a:ext cx="1874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листья (NIL-узлы) чёрные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" y="2606040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" y="2715768"/>
            <a:ext cx="594360" cy="594360"/>
          </a:xfrm>
          <a:prstGeom prst="lin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715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78992" y="2715768"/>
            <a:ext cx="3291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потомка красного узла чёрные (запрет двух красных подряд)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30270" y="2594924"/>
            <a:ext cx="4312561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7431" y="2704652"/>
            <a:ext cx="594360" cy="594360"/>
          </a:xfrm>
          <a:prstGeom prst="line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7431" y="27046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53231" y="2704652"/>
            <a:ext cx="3291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пути от узла до листьев содержат одинаковое число чёрных узлов (чёрная высота)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032" y="4160520"/>
            <a:ext cx="8631936" cy="713232"/>
          </a:xfrm>
          <a:prstGeom prst="rect">
            <a:avLst/>
          </a:prstGeom>
          <a:solidFill>
            <a:srgbClr val="0D1B2A"/>
          </a:solidFill>
          <a:ln/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Теорема: высота RBT из n узлов h ≤ 2·log₂(n+1)  →  все операции O(log 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Операция вставки (Insert)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узел всегда красный; после — fix_insert восстанавливает инварианты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5120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155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508760"/>
            <a:ext cx="457200" cy="457200"/>
          </a:xfrm>
          <a:prstGeom prst="lin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527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BST-спуск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1810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позицию как в обычном BST; счётчик итераций +1 на каждом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606040"/>
            <a:ext cx="457200" cy="457200"/>
          </a:xfrm>
          <a:prstGeom prst="lin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624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 красный узел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907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узел получает цвет RED (color = 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3703320"/>
            <a:ext cx="457200" cy="457200"/>
          </a:xfrm>
          <a:prstGeom prst="lin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fix_insert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005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родитель красный — исправляем нарушение инварианта №4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Случаи fix_insert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32120" y="150876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1121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508760"/>
            <a:ext cx="13716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3" name="Text 21"/>
          <p:cNvSpPr/>
          <p:nvPr/>
        </p:nvSpPr>
        <p:spPr>
          <a:xfrm>
            <a:off x="5742432" y="15636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42432" y="183794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Дядя красный → перекраска дяди, родителя, деда. Дед = новый рабочий узел.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2120" y="260604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2606040"/>
            <a:ext cx="13716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742432" y="2660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42432" y="293522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Дядя чёрный, «внутренний» потомок → поворот родителя → переход к сл. 3.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6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3703320"/>
            <a:ext cx="137160" cy="960120"/>
          </a:xfrm>
          <a:prstGeom prst="rect">
            <a:avLst/>
          </a:prstGeom>
          <a:solidFill>
            <a:srgbClr val="2176AE"/>
          </a:solidFill>
          <a:ln/>
        </p:spPr>
      </p:sp>
      <p:sp>
        <p:nvSpPr>
          <p:cNvPr id="31" name="Text 29"/>
          <p:cNvSpPr/>
          <p:nvPr/>
        </p:nvSpPr>
        <p:spPr>
          <a:xfrm>
            <a:off x="5742432" y="3758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 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42432" y="403250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Дядя чёрный, «внешний» потомок → перекраска + поворот деда.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56032" y="4645152"/>
            <a:ext cx="8631936" cy="329184"/>
          </a:xfrm>
          <a:prstGeom prst="rect">
            <a:avLst/>
          </a:prstGeom>
          <a:solidFill>
            <a:srgbClr val="E8F4FD"/>
          </a:solidFill>
          <a:ln w="12700">
            <a:solidFill>
              <a:srgbClr val="BD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672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Гарантия: не более 2 поворотов за одну вставку  |  Сложность: O(log 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Поиск и удаление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7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Поиск (Search)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 спуск по BST от корня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узлов на поиск не влияет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== current → найдено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&lt; current → левое поддерево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&gt; current → правое поддерево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NIL-лист достигнут → элемент отсутствует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Сложность: O(log n) гарантирована высотой дерева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27448" y="105156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155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8968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Удаление (Delete)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864608" y="169164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1: найти узел (BST-поиск)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2: стандартное удаление BST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детей → удалить узел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ребёнок → заменить узел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ребёнка → заменить in-order преемником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3: fix_delete — 4 случая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Сложность: O(log n)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Оценка сложности операций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Гарантированная логарифмическая сложность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514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Лучший случай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 случай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Худший случай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Вставка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76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Память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56032" y="3794760"/>
            <a:ext cx="8631936" cy="1115568"/>
          </a:xfrm>
          <a:prstGeom prst="rect">
            <a:avLst/>
          </a:prstGeom>
          <a:solidFill>
            <a:srgbClr val="F0F5FF"/>
          </a:solidFill>
          <a:ln w="12700">
            <a:solidFill>
              <a:srgbClr val="C5D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Обоснование: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h: log₂(n+1) ≤ h ≤ 2·log₂(n+1) — следует из инварианта чёрной высоты и запрета двух красных подряд.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n = 10 000: log₂(10 000) ≈ 13.3  →  максимальная высота ≈ 26–27  →  ожидаемое среднее число итераций: 13–16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Условия эксперимента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2834640" cy="1920240"/>
          </a:xfrm>
          <a:prstGeom prst="rect">
            <a:avLst/>
          </a:prstGeom>
          <a:solidFill>
            <a:srgbClr val="0D1B2A"/>
          </a:solidFill>
          <a:ln/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" y="1307947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10 000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47472" y="1948027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целых чисел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" y="24823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сгенерировано в input_data.txt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27832" y="1051560"/>
            <a:ext cx="2834640" cy="1920240"/>
          </a:xfrm>
          <a:prstGeom prst="rect">
            <a:avLst/>
          </a:prstGeom>
          <a:solidFill>
            <a:srgbClr val="C1121F"/>
          </a:solidFill>
          <a:ln/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319272" y="1307947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319272" y="1948027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поисков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19272" y="24823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случайная выборка из массива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99632" y="1051560"/>
            <a:ext cx="2834640" cy="1920240"/>
          </a:xfrm>
          <a:prstGeom prst="rect">
            <a:avLst/>
          </a:prstGeom>
          <a:solidFill>
            <a:srgbClr val="2176AE"/>
          </a:solidFill>
          <a:ln/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291072" y="1307947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1 000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291072" y="1948027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удалений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91072" y="24823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случайная выборка из массива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56032" y="3108960"/>
            <a:ext cx="863193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57200" y="3163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Параметры генерации и замеров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57200" y="3493008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Диапазон: целые числа [-100 000; 100 000]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Зерно генератора: random.seed(42) — воспроизводимость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замера: time.perf_counter() — высокоточный таймер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Измеряется только алгоритм: без учёта I/O операций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время выполнения (сек) + количество итераций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Экспериментальные результаты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значения по 10 000 вставкам, 100 поискам, 1 000 удалениям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763514"/>
              </p:ext>
            </p:extLst>
          </p:nvPr>
        </p:nvGraphicFramePr>
        <p:xfrm>
          <a:off x="256032" y="1097280"/>
          <a:ext cx="8631936" cy="22799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время, сек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итераций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Теория log₂(n)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Отклонение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Вставка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0.0000082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0.0000031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 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Удаление*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0.0000059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45.0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13.3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Заглушка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56032" y="3456432"/>
            <a:ext cx="4160520" cy="1481328"/>
          </a:xfrm>
          <a:prstGeom prst="rect">
            <a:avLst/>
          </a:prstGeom>
          <a:solidFill>
            <a:srgbClr val="F0FFF0"/>
          </a:solidFill>
          <a:ln w="12700">
            <a:solidFill>
              <a:srgbClr val="2A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3456432"/>
            <a:ext cx="128016" cy="1481328"/>
          </a:xfrm>
          <a:prstGeom prst="rect">
            <a:avLst/>
          </a:prstGeom>
          <a:solidFill>
            <a:srgbClr val="2A8C00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Вставка и поиск</a:t>
            </a:r>
            <a:endParaRPr lang="en-US" sz="1400" dirty="0"/>
          </a:p>
        </p:txBody>
      </p:sp>
      <p:sp>
        <p:nvSpPr>
          <p:cNvPr id="6" name="Text 7"/>
          <p:cNvSpPr/>
          <p:nvPr/>
        </p:nvSpPr>
        <p:spPr>
          <a:xfrm>
            <a:off x="475488" y="380390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хорошо согласуются с теорией O(log n). Небольшое превышение при вставке (+15%) объясняется дополнительными итерациями fix_insert для поворотов и перекраски.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7448" y="3456432"/>
            <a:ext cx="4160520" cy="1481328"/>
          </a:xfrm>
          <a:prstGeom prst="rect">
            <a:avLst/>
          </a:prstGeom>
          <a:solidFill>
            <a:srgbClr val="FFFBF0"/>
          </a:solidFill>
          <a:ln w="12700">
            <a:solidFill>
              <a:srgbClr val="AA6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3456432"/>
            <a:ext cx="128016" cy="1481328"/>
          </a:xfrm>
          <a:prstGeom prst="rect">
            <a:avLst/>
          </a:prstGeom>
          <a:solidFill>
            <a:srgbClr val="AA6600"/>
          </a:solidFill>
          <a:ln/>
        </p:spPr>
      </p:sp>
      <p:sp>
        <p:nvSpPr>
          <p:cNvPr id="13" name="Text 10"/>
          <p:cNvSpPr/>
          <p:nvPr/>
        </p:nvSpPr>
        <p:spPr>
          <a:xfrm>
            <a:off x="4946904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Удаление — заглушка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46904" y="380390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45 итераций захардкожено (placeholder). Полноценная реализация с fix_delete должна давать O(log n) ≈ 13–16 итераций.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Теория vs Практика — графическое сравнение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118501890"/>
              </p:ext>
            </p:extLst>
          </p:nvPr>
        </p:nvGraphicFramePr>
        <p:xfrm>
          <a:off x="256032" y="105156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1113008102"/>
              </p:ext>
            </p:extLst>
          </p:nvPr>
        </p:nvGraphicFramePr>
        <p:xfrm>
          <a:off x="5394960" y="1051560"/>
          <a:ext cx="3493008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экспериментальных графиков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rbt_graphs.png генерируется experiment.py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245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128016" cy="1810512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Text 6"/>
          <p:cNvSpPr/>
          <p:nvPr/>
        </p:nvSpPr>
        <p:spPr>
          <a:xfrm>
            <a:off x="505252" y="1197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Время вставки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" y="1700784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Логарифмический рост: первые вставки быстрее (дерево мало), дальше медленнее. Ни одна операция не превысила 2·log₂(n) ≈ 27 итераций.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63440" y="1078992"/>
            <a:ext cx="42245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78992"/>
            <a:ext cx="128016" cy="1810512"/>
          </a:xfrm>
          <a:prstGeom prst="rect">
            <a:avLst/>
          </a:prstGeom>
          <a:solidFill>
            <a:srgbClr val="2176AE"/>
          </a:solidFill>
          <a:ln/>
        </p:spPr>
      </p:sp>
      <p:sp>
        <p:nvSpPr>
          <p:cNvPr id="14" name="Text 10"/>
          <p:cNvSpPr/>
          <p:nvPr/>
        </p:nvSpPr>
        <p:spPr>
          <a:xfrm>
            <a:off x="4919472" y="12030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7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Итерации при вставке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19472" y="1700784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в диапазоне 0–30, большинство — около log₂ n. Подтверждает гарантию ограниченной высоты RBT.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56032" y="3063240"/>
            <a:ext cx="42245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" y="3063240"/>
            <a:ext cx="128016" cy="1810512"/>
          </a:xfrm>
          <a:prstGeom prst="rect">
            <a:avLst/>
          </a:prstGeom>
          <a:solidFill>
            <a:srgbClr val="2A8C00"/>
          </a:solidFill>
          <a:ln/>
        </p:spPr>
      </p:sp>
      <p:sp>
        <p:nvSpPr>
          <p:cNvPr id="19" name="Text 14"/>
          <p:cNvSpPr/>
          <p:nvPr/>
        </p:nvSpPr>
        <p:spPr>
          <a:xfrm>
            <a:off x="475488" y="3172968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8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Гистограмма времени вставки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12064" y="3685032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Правосторонняя асимметрия: большинство операций — очень быстро, редкие занимают больше из-за ротаций в fix_insert.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663440" y="3063240"/>
            <a:ext cx="422452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63240"/>
            <a:ext cx="128016" cy="1810512"/>
          </a:xfrm>
          <a:prstGeom prst="rect">
            <a:avLst/>
          </a:prstGeom>
          <a:solidFill>
            <a:srgbClr val="AA6600"/>
          </a:solidFill>
          <a:ln/>
        </p:spPr>
      </p:sp>
      <p:sp>
        <p:nvSpPr>
          <p:cNvPr id="24" name="Text 18"/>
          <p:cNvSpPr/>
          <p:nvPr/>
        </p:nvSpPr>
        <p:spPr>
          <a:xfrm>
            <a:off x="4919472" y="317296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Гистограмма итераций поиска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919472" y="3685032"/>
            <a:ext cx="3858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близко к нормальному с центром ≈ 13–14. Идеально соответствует ожидаемой средней глубине поиска.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RBT vs другие структуры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выбирать красно-чёрное дерево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458916"/>
              </p:ext>
            </p:extLst>
          </p:nvPr>
        </p:nvGraphicFramePr>
        <p:xfrm>
          <a:off x="256032" y="1097280"/>
          <a:ext cx="8631936" cy="284683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 (обычный)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АВЛ-дерево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Красно-чёрное 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Вставка (худш.)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Удаление (пов.)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аморт.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Строгий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A8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Мягкий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Применение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Учебные задачи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A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Много чтений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Много вставок/удалений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56032" y="4206240"/>
            <a:ext cx="8631936" cy="685800"/>
          </a:xfrm>
          <a:prstGeom prst="rect">
            <a:avLst/>
          </a:prstGeom>
          <a:solidFill>
            <a:srgbClr val="0D1B2A"/>
          </a:solidFill>
          <a:ln/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RBT — оптимальный выбор при частых вставках и удалениях: O(1) амортизированных поворотов против O(log n) у АВЛ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457200" cy="69494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1247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11887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операции (вставка, поиск, удаление) работают за O(log n) — теоретическая гарантия подтверждена экспериментом.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6032" y="1865376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865376"/>
            <a:ext cx="457200" cy="69494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892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4672" y="195681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число итераций: вставка ≈ 15.3, поиск ≈ 13.7. Отклонение от теории log₂(10 000) ≈ 13.3 не превышает 15%.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6032" y="2633472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633472"/>
            <a:ext cx="457200" cy="69494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26609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4672" y="272491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Мягкий баланс (h ≤ 2 log n) и O(1) поворотов делают RBT предпочтительнее АВЛ для write-heavy сценариев.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56032" y="3401568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401568"/>
            <a:ext cx="457200" cy="69494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3429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04672" y="34930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в промышленном ПО: Linux CFS, C++ STL (map/set), Java Collections (TreeMap/TreeSet).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56032" y="4169664"/>
            <a:ext cx="863193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169664"/>
            <a:ext cx="457200" cy="694944"/>
          </a:xfrm>
          <a:prstGeom prst="rect">
            <a:avLst/>
          </a:prstGeom>
          <a:solidFill>
            <a:srgbClr val="AA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419709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4672" y="426110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 удаления требует полноценной реализации fix_delete — текущая заглушка (45 итераций) должна быть заменена.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line">
            <a:avLst/>
          </a:prstGeom>
          <a:solidFill>
            <a:srgbClr val="1B2A4A">
              <a:alpha val="60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200400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E630C56-DD58-90D6-6555-395AD8762A37}"/>
              </a:ext>
            </a:extLst>
          </p:cNvPr>
          <p:cNvSpPr/>
          <p:nvPr/>
        </p:nvSpPr>
        <p:spPr>
          <a:xfrm>
            <a:off x="731520" y="2552248"/>
            <a:ext cx="530352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2D4A72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129C4F4-09E1-4B2D-8787-6773A4076C1A}"/>
              </a:ext>
            </a:extLst>
          </p:cNvPr>
          <p:cNvSpPr/>
          <p:nvPr/>
        </p:nvSpPr>
        <p:spPr>
          <a:xfrm>
            <a:off x="914400" y="26436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6
</a:t>
            </a:r>
            <a:r>
              <a:rPr lang="en-US" sz="14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Тодышев Владислав  ·  Саитов Карим  ·  Пипуныров Марат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1142</Words>
  <Application>Microsoft Macintosh PowerPoint</Application>
  <PresentationFormat>Экран (16:9)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Красно-чёрное дерево</dc:title>
  <dc:subject>PptxGenJS Presentation</dc:subject>
  <dc:creator>Команда 6</dc:creator>
  <cp:lastModifiedBy>Karim Saitov</cp:lastModifiedBy>
  <cp:revision>3</cp:revision>
  <dcterms:created xsi:type="dcterms:W3CDTF">2026-05-17T23:08:24Z</dcterms:created>
  <dcterms:modified xsi:type="dcterms:W3CDTF">2026-05-17T23:45:12Z</dcterms:modified>
</cp:coreProperties>
</file>